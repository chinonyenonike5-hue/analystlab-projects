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No-Show Rate</c:v>
                </c:pt>
              </c:strCache>
            </c:strRef>
          </c:tx>
          <c:spPr>
            <a:solidFill>
              <a:srgbClr val="2E6E8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3A4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6E8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6E8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6E8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44A3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44A3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0-5 km</c:v>
                  </c:pt>
                  <c:pt idx="1">
                    <c:v>5-10 km</c:v>
                  </c:pt>
                  <c:pt idx="2">
                    <c:v>10-20 km</c:v>
                  </c:pt>
                  <c:pt idx="3">
                    <c:v>20-30 km</c:v>
                  </c:pt>
                  <c:pt idx="4">
                    <c:v>30+ km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48.7</c:v>
                </c:pt>
                <c:pt idx="1">
                  <c:v>49.3</c:v>
                </c:pt>
                <c:pt idx="2">
                  <c:v>52.3</c:v>
                </c:pt>
                <c:pt idx="3">
                  <c:v>58.4</c:v>
                </c:pt>
                <c:pt idx="4">
                  <c:v>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3A4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3A4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No-Show Rate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 Reminder</c:v>
                </c:pt>
              </c:strCache>
            </c:strRef>
          </c:tx>
          <c:spPr>
            <a:solidFill>
              <a:srgbClr val="2E6E8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3A4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Diagnostic Test</c:v>
                  </c:pt>
                  <c:pt idx="1">
                    <c:v>Follow-up</c:v>
                  </c:pt>
                  <c:pt idx="2">
                    <c:v>Specialist Consult.</c:v>
                  </c:pt>
                  <c:pt idx="3">
                    <c:v>General Consult.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49.3</c:v>
                </c:pt>
                <c:pt idx="1">
                  <c:v>53.1</c:v>
                </c:pt>
                <c:pt idx="2">
                  <c:v>49</c:v>
                </c:pt>
                <c:pt idx="3">
                  <c:v>48.1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 Reminder</c:v>
                </c:pt>
              </c:strCache>
            </c:strRef>
          </c:tx>
          <c:spPr>
            <a:solidFill>
              <a:srgbClr val="8FB4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3A4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Diagnostic Test</c:v>
                  </c:pt>
                  <c:pt idx="1">
                    <c:v>Follow-up</c:v>
                  </c:pt>
                  <c:pt idx="2">
                    <c:v>Specialist Consult.</c:v>
                  </c:pt>
                  <c:pt idx="3">
                    <c:v>General Consult.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61.1</c:v>
                </c:pt>
                <c:pt idx="1">
                  <c:v>57.1</c:v>
                </c:pt>
                <c:pt idx="2">
                  <c:v>54.3</c:v>
                </c:pt>
                <c:pt idx="3">
                  <c:v>51.7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3A4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3A4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No-Show Rate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3A4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HealthConnect Clinic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8803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8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Missed Appointments Through Data-Driven Insights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09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Experience Lab  |  Data Analytics Track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074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 - Week 8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6309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Clinic manages appointment-based healthcare services, but loses a significant share of its booked capacity to patients who simply don't attend. Understanding why - and which patients are most at risk - is the foundation for any operational fix.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project question: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77640"/>
            <a:ext cx="6309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can HealthConnect Clinic use data to reduce missed appointments and improve the patient support experience?”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0" y="1234440"/>
            <a:ext cx="42976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0" y="1371600"/>
            <a:ext cx="4297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44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51.2%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2834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completed appointments end in a no-show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0" y="3520440"/>
            <a:ext cx="42976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0" y="3657600"/>
            <a:ext cx="4297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7406640" y="5120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cancelled in advance - no-shows are the real problem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685800" cy="685800"/>
          </a:xfrm>
          <a:prstGeom prst="ellipse">
            <a:avLst/>
          </a:prstGeom>
          <a:solidFill>
            <a:srgbClr val="2E6E8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38988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fictional, anonymized appointment records spanning Jan 2025 to Jun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685800" cy="685800"/>
          </a:xfrm>
          <a:prstGeom prst="ellipse">
            <a:avLst/>
          </a:prstGeom>
          <a:solidFill>
            <a:srgbClr val="2E6E8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4231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44144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appointment IDs or logical inconsistencies found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685800" cy="685800"/>
          </a:xfrm>
          <a:prstGeom prst="ellipse">
            <a:avLst/>
          </a:prstGeom>
          <a:solidFill>
            <a:srgbClr val="2E6E8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474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49300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with missing values (distance, waiting time, reminder channel) - all explainable, none treated as errors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526280"/>
            <a:ext cx="685800" cy="685800"/>
          </a:xfrm>
          <a:prstGeom prst="ellipse">
            <a:avLst/>
          </a:prstGeom>
          <a:solidFill>
            <a:srgbClr val="2E6E8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5262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54456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tests run in Week 7 to confirm every figure matches the raw data - all passed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Finding: Distance to Clinic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predictor of a missed appointment found across the entire project - confirmed independent of age group and appointment type.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73152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92024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138160" y="205740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44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21.3pp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3337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from nearest to farthest band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138160" y="406908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38160" y="420624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44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70.0%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8229600" y="5486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rate for patients 30km+ away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Finding: Risk Factors Compound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and prior no-show history don't just add together - patients with both factors show the highest risk of any segment identified.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675120" cy="2377440"/>
        </p:xfrm>
        <a:graphic>
          <a:graphicData uri="http://schemas.openxmlformats.org/drawingml/2006/table">
            <a:tbl>
              <a:tblPr/>
              <a:tblGrid>
                <a:gridCol w="2377440"/>
                <a:gridCol w="2148840"/>
                <a:gridCol w="214884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Distance Band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First-Time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Repeat No-Show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3A4B"/>
                          </a:solidFill>
                        </a:rPr>
                        <a:t>0-5 km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3A4B"/>
                          </a:solidFill>
                        </a:rPr>
                        <a:t>44.9%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3A4B"/>
                          </a:solidFill>
                        </a:rPr>
                        <a:t>55.3%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3A4B"/>
                          </a:solidFill>
                        </a:rPr>
                        <a:t>10-20 km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3A4B"/>
                          </a:solidFill>
                        </a:rPr>
                        <a:t>46.6%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3A4B"/>
                          </a:solidFill>
                        </a:rPr>
                        <a:t>60.5%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3A4B"/>
                          </a:solidFill>
                        </a:rPr>
                        <a:t>20-30 km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3A4B"/>
                          </a:solidFill>
                        </a:rPr>
                        <a:t>53.8%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3A4B"/>
                          </a:solidFill>
                        </a:rPr>
                        <a:t>64.0%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3A4B"/>
                          </a:solidFill>
                        </a:rPr>
                        <a:t>30+ km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3A4B"/>
                          </a:solidFill>
                        </a:rPr>
                        <a:t>64.1%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77.4%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4A3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82880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589520" y="1965960"/>
            <a:ext cx="4023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44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77.4%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37033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rate: 30km+ away AND a prior no-show (n=31)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57200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single highest-risk, most actionable patient segment identified - a clear candidate for manual confirmation calls rather than automated reminders alone.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Finding: Reminders Aren't Uniform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reminder produces very different results depending on appointment type - a blanket policy leaves value on the table.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73152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92024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138160" y="205740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11.8pp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3337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effect for Diagnostic Test appointments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138160" y="406908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38160" y="420624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3.6pp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8229600" y="5486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effect for General Consultation - far weaker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Power BI, independently tested in Week 7 - every value on this dashboard matches an independent recalculation from the raw data.</a:t>
            </a:r>
            <a:endParaRPr lang="en-US" sz="1300" dirty="0"/>
          </a:p>
        </p:txBody>
      </p:sp>
      <p:pic>
        <p:nvPicPr>
          <p:cNvPr id="4" name="Image 0" descr="/home/claude/deck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1056" y="1453896"/>
            <a:ext cx="9006840" cy="50474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rgbClr val="A44A3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3258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guaranteed reminder coverage for Diagnostic Test appointments first - the largest return on reminder effort of any type.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48640" cy="548640"/>
          </a:xfrm>
          <a:prstGeom prst="ellipse">
            <a:avLst/>
          </a:prstGeom>
          <a:solidFill>
            <a:srgbClr val="A44A3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5146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 distance-based intervention (telehealth follow-up or transport support) for patients living 20km or more from the clinic.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749040"/>
            <a:ext cx="548640" cy="548640"/>
          </a:xfrm>
          <a:prstGeom prst="ellipse">
            <a:avLst/>
          </a:prstGeom>
          <a:solidFill>
            <a:srgbClr val="2E6E8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7033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the compounded-risk segment (30km+ and prior no-show) for manual confirmation calls rather than automated reminders alone.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937760"/>
            <a:ext cx="548640" cy="548640"/>
          </a:xfrm>
          <a:prstGeom prst="ellipse">
            <a:avLst/>
          </a:prstGeom>
          <a:solidFill>
            <a:srgbClr val="2E6E8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937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8920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sending reminders to patients with a no-show history - the effect is, if anything, slightly larger for this group.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Cross-Track Contribution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F7F9FA"/>
          </a:solidFill>
          <a:ln w="12700">
            <a:solidFill>
              <a:srgbClr val="E2E8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48463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is fictional and anonymized - findings need validation against real clinic data.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relationships are correlational, not causal.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compounded-risk finding rests on a small sample (n=31).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in distance and waiting time were left blank, not imputed.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28016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F7F9FA"/>
          </a:solidFill>
          <a:ln w="12700">
            <a:solidFill>
              <a:srgbClr val="E2E8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4630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Cross-Track Contribution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011680"/>
            <a:ext cx="48463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a ranked feature handoff for Data Science: distance, prior no-show history, and reminder status by appointment type.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re-verified every figure in that handoff in Week 7 - zero discrepancies.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solo this placement - documented honestly as a prepared, self-verified handoff rather than a two-way exchange.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0040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and appointment history are the strongest, independently-verified drivers of missed appointments at HealthConnect Clinic - and both point toward specific, actionable interventions.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Clinic Experience Lab  |  AnalystLab Africa  |  Data Analytics Track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2026-09-23T19:13:02Z</dcterms:created>
  <dcterms:modified xsi:type="dcterms:W3CDTF">2026-09-23T19:13:02Z</dcterms:modified>
</cp:coreProperties>
</file>